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Google / Ipod</c:v>
                  </c:pt>
                  <c:pt idx="1">
                    <c:v>Bing / Zune</c:v>
                  </c:pt>
                  <c:pt idx="2">
                    <c:v>Google / ipod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290</c:v>
                </c:pt>
                <c:pt idx="1">
                  <c:v>250</c:v>
                </c:pt>
                <c:pt idx="2">
                  <c:v>190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293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Keyword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Analytics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Data Engineer Assessment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1828800" cy="36576"/>
          </a:xfrm>
          <a:prstGeom prst="rect">
            <a:avLst/>
          </a:prstGeom>
          <a:solidFill>
            <a:srgbClr val="CC293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Sarath  |  Data Engineer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34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"How much revenue is the client getting from external search engines,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which keywords are performing best based on revenue?"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56032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arriving from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Yahoo, Bing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5603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256032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their journey from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to purchase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5603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560320"/>
            <a:ext cx="2560320" cy="54864"/>
          </a:xfrm>
          <a:prstGeom prst="rect">
            <a:avLst/>
          </a:prstGeom>
          <a:solidFill>
            <a:srgbClr val="CC293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Quantify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search engine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keyword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the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Hit-level clickstream data from Adobe Analytics — each row is one visitor action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3474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 in solution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referrer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URL that brought the visitor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Extract search engine + keyword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event_list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Events during the hit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Event 1 = Purchase (revenue trigger)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product_list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Products with attributes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Extract revenue (4th semicolon field)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ip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Visitor IP address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Session stitching (visitor ID proxy)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date_time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Timestamp of hit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Chronological ordering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931920"/>
            <a:ext cx="73152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977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Revenue is only actualized when event_list contains '1' (Purchase). Product views (event 2) show products but revenue = 0.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Attribution logic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88720" y="1051560"/>
            <a:ext cx="7406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 referrer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0515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referrer URL matches Google, Yahoo, or Bing. Extract keyword from query params (q=, p=).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8720" y="2011680"/>
            <a:ext cx="7406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visitor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20116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IP as visitor identifier. Map each visitor to their originating search engine + keyword.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88720" y="2971800"/>
            <a:ext cx="7406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71600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 purchase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29718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event_list contains '1', parse product_list to extract revenue (4th semicolon-delimited field).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88720" y="3931920"/>
            <a:ext cx="7406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7160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Attribute revenue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0400" y="39319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purchase revenue back to the search engine/keyword that brought the visitor. Aggregate and sort.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free tier deployment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645920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68880" y="100584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landing zone (batch)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event trigger (stream)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1691640"/>
            <a:ext cx="0" cy="32004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1645920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68880" y="201168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(Python class)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(orchestration)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2697480"/>
            <a:ext cx="0" cy="32004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017520"/>
            <a:ext cx="164592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175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68880" y="301752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Bronze (raw) → Silver (clean) → Gold (agg)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Iceberg tables via Glue Catalog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3703320"/>
            <a:ext cx="0" cy="32004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023360"/>
            <a:ext cx="164592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233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468880" y="402336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(SQL queries)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.tab report file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32320" y="182880"/>
            <a:ext cx="164592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182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/ month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Medallion lakehouse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274320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256032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Bronze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immutable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TSV files landed as-is.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by ingestion date.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2560320"/>
            <a:ext cx="274320" cy="0"/>
          </a:xfrm>
          <a:prstGeom prst="line">
            <a:avLst/>
          </a:prstGeom>
          <a:noFill/>
          <a:ln w="25400">
            <a:solidFill>
              <a:srgbClr val="7180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188720"/>
            <a:ext cx="2560320" cy="274320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188720"/>
            <a:ext cx="256032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/ clean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referrer + product fields.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masked (IP hashed).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Deduplicated, validated.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2560320"/>
            <a:ext cx="274320" cy="0"/>
          </a:xfrm>
          <a:prstGeom prst="line">
            <a:avLst/>
          </a:prstGeom>
          <a:noFill/>
          <a:ln w="25400">
            <a:solidFill>
              <a:srgbClr val="7180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188720"/>
            <a:ext cx="2560320" cy="274320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88720"/>
            <a:ext cx="2560320" cy="54864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65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/ ready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keyword + engine.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for dashboards.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Client-ready reports.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20624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Apache Iceberg?  ACID transactions  |  Time travel  |  Schema evolution  |  Hidden partitioning  |  Open standard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from sample data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Search Engine Domain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Search Keyword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</a:rPr>
                        <a:t>google.com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</a:rPr>
                        <a:t>Ipod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$290.00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</a:rPr>
                        <a:t>bing.com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</a:rPr>
                        <a:t>Zune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$250.00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</a:rPr>
                        <a:t>google.com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</a:rPr>
                        <a:t>ipod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$190.00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548640" y="2926080"/>
          <a:ext cx="5029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6217920" y="2926080"/>
            <a:ext cx="23774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6217920" y="2926080"/>
            <a:ext cx="54864" cy="594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0" y="29260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$730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06640" y="29260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217920" y="3611880"/>
            <a:ext cx="23774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217920" y="3611880"/>
            <a:ext cx="54864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0" y="36118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406640" y="36118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events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4297680"/>
            <a:ext cx="23774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4297680"/>
            <a:ext cx="54864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0" y="42976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7406640" y="42976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and PII handling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256032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field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PII level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Handling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9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IP address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Direct PII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SHA-256 hash at Silver layer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Engineers only (Bronze)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User agent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Indirect PII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Kept in Silver, excluded from Gold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Analysts restricted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Geo city/region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Quasi-identifier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Available for analytics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Marketing team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Search keywords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Potentially sensitive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Aggregated in Gold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All consumers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291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3291840"/>
            <a:ext cx="1920240" cy="54864"/>
          </a:xfrm>
          <a:prstGeom prst="rect">
            <a:avLst/>
          </a:prstGeom>
          <a:solidFill>
            <a:srgbClr val="CC293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Encryption at rest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3886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SSE-KMS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customer-managed keys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697480" y="3291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697480" y="3291840"/>
            <a:ext cx="192024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283464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Encryption in transit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834640" y="3886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for all S3, Athena,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Lambda connections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3291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32918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498348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control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83480" y="3886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+ Lake Formation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security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995160" y="3291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95160" y="3291840"/>
            <a:ext cx="19202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713232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32320" y="3886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logging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access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Scalability: from KB to TB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GB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1097280"/>
            <a:ext cx="6492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1097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(current)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1097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0" y="1097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47088"/>
            <a:ext cx="13716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470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1 - 10 GB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1847088"/>
            <a:ext cx="6492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0" y="18470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with chunked reads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8470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0" y="18470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596896"/>
            <a:ext cx="13716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59689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10 - 100 GB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03120" y="2596896"/>
            <a:ext cx="6492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86000" y="25968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(PySpark, 5 DPU)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5968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10-30 min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25968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~$2-5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346704"/>
            <a:ext cx="13716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4670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GB - 1 TB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03120" y="3346704"/>
            <a:ext cx="6492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286000" y="33467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Spark cluster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33467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 min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33467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~$10-20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096512"/>
            <a:ext cx="1371600" cy="502920"/>
          </a:xfrm>
          <a:prstGeom prst="rect">
            <a:avLst/>
          </a:prstGeom>
          <a:solidFill>
            <a:srgbClr val="CC2936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09651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 TB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03120" y="4096512"/>
            <a:ext cx="6492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286000" y="40965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+ Iceberg partitioning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0" y="40965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hours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40965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~$30-50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design reads line-by-line with csv.DictReader — memory usage is O(unique visitors), not O(file size)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proofing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11480" cy="411480"/>
          </a:xfrm>
          <a:prstGeom prst="ellipse">
            <a:avLst/>
          </a:prstGeom>
          <a:solidFill>
            <a:srgbClr val="CC293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Multi-touch attribution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931920" y="960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preserves full session data — build first-touch, linear, time-decay, or data-driven models without re-ingesting.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411480" cy="411480"/>
          </a:xfrm>
          <a:prstGeom prst="ellipse">
            <a:avLst/>
          </a:prstGeom>
          <a:solidFill>
            <a:srgbClr val="CC293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search engines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3192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config is externalized (domain + query param mapping). Adding DuckDuckGo, TikTok Search = config change, not code.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rgbClr val="CC293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Cross-device identity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2514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Adobe provides Experience Cloud ID, replace IP-based stitching with deterministic identity resolution.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411480" cy="411480"/>
          </a:xfrm>
          <a:prstGeom prst="ellipse">
            <a:avLst/>
          </a:prstGeom>
          <a:solidFill>
            <a:srgbClr val="CC293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ML-ready features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31920" y="3291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is structured for feature engineering — session length, page affinity, conversion funnel stage, product embeddings.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411480" cy="411480"/>
          </a:xfrm>
          <a:prstGeom prst="ellipse">
            <a:avLst/>
          </a:prstGeom>
          <a:solidFill>
            <a:srgbClr val="CC293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bidding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31920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path enables real-time keyword performance signals that can feed automated bid management systems.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293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CC293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code walkthrough and Q&amp;A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Keyword Performance Analytics</dc:title>
  <dc:subject>PptxGenJS Presentation</dc:subject>
  <dc:creator>Sarath</dc:creator>
  <cp:lastModifiedBy>Sarath</cp:lastModifiedBy>
  <cp:revision>1</cp:revision>
  <dcterms:created xsi:type="dcterms:W3CDTF">2026-04-08T04:10:53Z</dcterms:created>
  <dcterms:modified xsi:type="dcterms:W3CDTF">2026-04-08T04:10:53Z</dcterms:modified>
</cp:coreProperties>
</file>