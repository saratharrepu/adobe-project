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8"/>
    <p:sldId id="268" r:id="rId19"/>
    <p:sldId id="269" r:id="rId20"/>
    <p:sldId id="270" r:id="rId21"/>
    <p:sldId id="271" r:id="rId2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0D948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B2A4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Google / Ipod</c:v>
                  </c:pt>
                  <c:pt idx="1">
                    <c:v>Bing / Zune</c:v>
                  </c:pt>
                  <c:pt idx="2">
                    <c:v>Google / ipod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290</c:v>
                </c:pt>
                <c:pt idx="1">
                  <c:v>250</c:v>
                </c:pt>
                <c:pt idx="2">
                  <c:v>190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B2A4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18096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1809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CC293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914400"/>
            <a:ext cx="54864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Search Keyword</a:t>
            </a:r>
            <a:endParaRPr lang="en-US" sz="4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Performance Analytics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31520" y="310896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90A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Adobe Data Engineer Assessment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31520" y="3749040"/>
            <a:ext cx="1828800" cy="36576"/>
          </a:xfrm>
          <a:prstGeom prst="rect">
            <a:avLst/>
          </a:prstGeom>
          <a:solidFill>
            <a:srgbClr val="CC2936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39319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A9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Sarath  |  Data Engineer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business problem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097280"/>
            <a:ext cx="8046720" cy="1097280"/>
          </a:xfrm>
          <a:prstGeom prst="rect">
            <a:avLst/>
          </a:prstGeom>
          <a:solidFill>
            <a:srgbClr val="1B2A4A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914400" y="123444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"How much revenue is the client getting from external search engines,</a:t>
            </a:r>
            <a:endParaRPr lang="en-US" sz="1600" dirty="0"/>
          </a:p>
          <a:p>
            <a:pPr algn="l" indent="0" marL="0">
              <a:buNone/>
            </a:pPr>
            <a:r>
              <a:rPr lang="en-US" sz="16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and which keywords are performing best based on revenue?"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2560320"/>
            <a:ext cx="256032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2560320"/>
            <a:ext cx="256032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283464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Identify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731520" y="329184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Visitors arriving from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Google, Yahoo, Bing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383280" y="2560320"/>
            <a:ext cx="256032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383280" y="2560320"/>
            <a:ext cx="2560320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1" name="Text 9"/>
          <p:cNvSpPr/>
          <p:nvPr/>
        </p:nvSpPr>
        <p:spPr>
          <a:xfrm>
            <a:off x="3566160" y="283464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Attribute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3566160" y="329184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their journey from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to purchase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217920" y="2560320"/>
            <a:ext cx="256032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217920" y="2560320"/>
            <a:ext cx="2560320" cy="54864"/>
          </a:xfrm>
          <a:prstGeom prst="rect">
            <a:avLst/>
          </a:prstGeom>
          <a:solidFill>
            <a:srgbClr val="CC2936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0" y="283464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Quantify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6400800" y="329184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per search engine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keyword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Understanding the data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Hit-level clickstream data from Adobe Analytics — each row is one visitor action</a:t>
            </a:r>
            <a:endParaRPr lang="en-US" sz="14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804672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2926080"/>
                <a:gridCol w="347472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Field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Purpose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Role in solution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D3748"/>
                          </a:solidFill>
                        </a:rPr>
                        <a:t>referrer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D3748"/>
                          </a:solidFill>
                        </a:rPr>
                        <a:t>URL that brought the visitor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D3748"/>
                          </a:solidFill>
                        </a:rPr>
                        <a:t>Extract search engine + keyword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D3748"/>
                          </a:solidFill>
                        </a:rPr>
                        <a:t>event_list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D3748"/>
                          </a:solidFill>
                        </a:rPr>
                        <a:t>Events during the hit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D3748"/>
                          </a:solidFill>
                        </a:rPr>
                        <a:t>Event 1 = Purchase (revenue trigger)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D3748"/>
                          </a:solidFill>
                        </a:rPr>
                        <a:t>product_list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D3748"/>
                          </a:solidFill>
                        </a:rPr>
                        <a:t>Products with attributes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D3748"/>
                          </a:solidFill>
                        </a:rPr>
                        <a:t>Extract revenue (4th semicolon field)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D3748"/>
                          </a:solidFill>
                        </a:rPr>
                        <a:t>ip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D3748"/>
                          </a:solidFill>
                        </a:rPr>
                        <a:t>Visitor IP address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D3748"/>
                          </a:solidFill>
                        </a:rPr>
                        <a:t>Session stitching (visitor ID proxy)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D3748"/>
                          </a:solidFill>
                        </a:rPr>
                        <a:t>date_time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D3748"/>
                          </a:solidFill>
                        </a:rPr>
                        <a:t>Timestamp of hit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D3748"/>
                          </a:solidFill>
                        </a:rPr>
                        <a:t>Chronological ordering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3931920"/>
            <a:ext cx="8046720" cy="822960"/>
          </a:xfrm>
          <a:prstGeom prst="rect">
            <a:avLst/>
          </a:prstGeom>
          <a:solidFill>
            <a:srgbClr val="FEF3C7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548640" y="3931920"/>
            <a:ext cx="73152" cy="82296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7" name="Text 4"/>
          <p:cNvSpPr/>
          <p:nvPr/>
        </p:nvSpPr>
        <p:spPr>
          <a:xfrm>
            <a:off x="914400" y="397764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rule: Revenue is only actualized when event_list contains '1' (Purchase). Product views (event 2) show products but revenue = 0.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Attribution logic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097280"/>
            <a:ext cx="457200" cy="45720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972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1188720" y="1051560"/>
            <a:ext cx="7406640" cy="548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371600" y="105156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Parse referrer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200400" y="1051560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if referrer URL matches Google, Yahoo, or Bing. Extract keyword from query params (q=, p=).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2057400"/>
            <a:ext cx="457200" cy="45720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0574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1188720" y="2011680"/>
            <a:ext cx="7406640" cy="548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1371600" y="201168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Track visitor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200400" y="2011680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IP as visitor identifier. Map each visitor to their originating search engine + keyword.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3017520"/>
            <a:ext cx="457200" cy="45720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30175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1188720" y="2971800"/>
            <a:ext cx="7406640" cy="548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1371600" y="297180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Detect purchase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3200400" y="2971800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event_list contains '1', parse product_list to extract revenue (4th semicolon-delimited field).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48640" y="3977640"/>
            <a:ext cx="457200" cy="457200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19" name="Text 17"/>
          <p:cNvSpPr/>
          <p:nvPr/>
        </p:nvSpPr>
        <p:spPr>
          <a:xfrm>
            <a:off x="548640" y="39776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1188720" y="3931920"/>
            <a:ext cx="7406640" cy="548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1371600" y="393192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Attribute revenue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3200400" y="3931920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 purchase revenue back to the search engine/keyword that brought the visitor. Aggregate and sort.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"/>
            <a:ext cx="5943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Technical architecture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0A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free tier deployment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005840"/>
            <a:ext cx="1645920" cy="6858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005840"/>
            <a:ext cx="1645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Ingestion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2468880" y="1005840"/>
            <a:ext cx="6217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 landing zone (batch)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 event trigger (stream)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1371600" y="1691640"/>
            <a:ext cx="0" cy="320040"/>
          </a:xfrm>
          <a:prstGeom prst="line">
            <a:avLst/>
          </a:prstGeom>
          <a:noFill/>
          <a:ln w="19050">
            <a:solidFill>
              <a:srgbClr val="4A556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2011680"/>
            <a:ext cx="1645920" cy="68580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011680"/>
            <a:ext cx="1645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Processing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2468880" y="2011680"/>
            <a:ext cx="6217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Lambda (Python class)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Functions (orchestration)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371600" y="2697480"/>
            <a:ext cx="0" cy="320040"/>
          </a:xfrm>
          <a:prstGeom prst="line">
            <a:avLst/>
          </a:prstGeom>
          <a:noFill/>
          <a:ln w="19050">
            <a:solidFill>
              <a:srgbClr val="4A556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48640" y="3017520"/>
            <a:ext cx="1645920" cy="6858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3017520"/>
            <a:ext cx="1645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Storage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2468880" y="3017520"/>
            <a:ext cx="6217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 Bronze (raw) → Silver (clean) → Gold (agg)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 Iceberg tables via Glue Catalog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371600" y="3703320"/>
            <a:ext cx="0" cy="320040"/>
          </a:xfrm>
          <a:prstGeom prst="line">
            <a:avLst/>
          </a:prstGeom>
          <a:noFill/>
          <a:ln w="19050">
            <a:solidFill>
              <a:srgbClr val="4A556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" y="4023360"/>
            <a:ext cx="1645920" cy="6858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4023360"/>
            <a:ext cx="1645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Serving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2468880" y="4023360"/>
            <a:ext cx="6217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Athena (SQL queries)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.tab report file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132320" y="182880"/>
            <a:ext cx="1645920" cy="36576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20" name="Text 18"/>
          <p:cNvSpPr/>
          <p:nvPr/>
        </p:nvSpPr>
        <p:spPr>
          <a:xfrm>
            <a:off x="7132320" y="18288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 / month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Medallion lakehouse architecture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188720"/>
            <a:ext cx="2560320" cy="2743200"/>
          </a:xfrm>
          <a:prstGeom prst="rect">
            <a:avLst/>
          </a:prstGeom>
          <a:solidFill>
            <a:srgbClr val="FEF3C7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548640" y="1188720"/>
            <a:ext cx="2560320" cy="54864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37160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B4530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Bronze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178308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/ immutable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31520" y="2286000"/>
            <a:ext cx="2194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TSV files landed as-is.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Partitioned by ingestion date.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Immutable audit trail.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108960" y="2560320"/>
            <a:ext cx="274320" cy="0"/>
          </a:xfrm>
          <a:prstGeom prst="line">
            <a:avLst/>
          </a:prstGeom>
          <a:noFill/>
          <a:ln w="25400">
            <a:solidFill>
              <a:srgbClr val="71809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383280" y="1188720"/>
            <a:ext cx="2560320" cy="2743200"/>
          </a:xfrm>
          <a:prstGeom prst="rect">
            <a:avLst/>
          </a:prstGeom>
          <a:solidFill>
            <a:srgbClr val="CCFBF1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383280" y="1188720"/>
            <a:ext cx="2560320" cy="54864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11" name="Text 9"/>
          <p:cNvSpPr/>
          <p:nvPr/>
        </p:nvSpPr>
        <p:spPr>
          <a:xfrm>
            <a:off x="3566160" y="137160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76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Silver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3566160" y="178308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Curated / clean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566160" y="2286000"/>
            <a:ext cx="2194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Parsed referrer + product fields.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PII masked (IP hashed).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Deduplicated, validated.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943600" y="2560320"/>
            <a:ext cx="274320" cy="0"/>
          </a:xfrm>
          <a:prstGeom prst="line">
            <a:avLst/>
          </a:prstGeom>
          <a:noFill/>
          <a:ln w="25400">
            <a:solidFill>
              <a:srgbClr val="71809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217920" y="1188720"/>
            <a:ext cx="2560320" cy="2743200"/>
          </a:xfrm>
          <a:prstGeom prst="rect">
            <a:avLst/>
          </a:prstGeom>
          <a:solidFill>
            <a:srgbClr val="DCFCE7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217920" y="1188720"/>
            <a:ext cx="2560320" cy="54864"/>
          </a:xfrm>
          <a:prstGeom prst="rect">
            <a:avLst/>
          </a:prstGeom>
          <a:solidFill>
            <a:srgbClr val="166534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0" y="137160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6653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Gold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6400800" y="178308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Aggregated / ready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400800" y="2286000"/>
            <a:ext cx="2194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by keyword + engine.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Pre-computed for dashboards.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Client-ready reports.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48640" y="4206240"/>
            <a:ext cx="8046720" cy="640080"/>
          </a:xfrm>
          <a:prstGeom prst="rect">
            <a:avLst/>
          </a:prstGeom>
          <a:solidFill>
            <a:srgbClr val="EFF6FF"/>
          </a:solidFill>
          <a:ln/>
        </p:spPr>
      </p:sp>
      <p:sp>
        <p:nvSpPr>
          <p:cNvPr id="21" name="Shape 19"/>
          <p:cNvSpPr/>
          <p:nvPr/>
        </p:nvSpPr>
        <p:spPr>
          <a:xfrm>
            <a:off x="548640" y="4206240"/>
            <a:ext cx="73152" cy="6400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2" name="Text 20"/>
          <p:cNvSpPr/>
          <p:nvPr/>
        </p:nvSpPr>
        <p:spPr>
          <a:xfrm>
            <a:off x="914400" y="420624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Apache Iceberg?  ACID transactions  |  Time travel  |  Schema evolution  |  Hidden partitioning  |  Open standard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Results from sample data</a:t>
            </a:r>
            <a:endParaRPr lang="en-US" sz="32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097280"/>
          <a:ext cx="804672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2743200"/>
                <a:gridCol w="256032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Search Engine Domain</a:t>
                      </a:r>
                      <a:endParaRPr lang="en-US" sz="14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Search Keyword</a:t>
                      </a:r>
                      <a:endParaRPr lang="en-US" sz="14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Revenue</a:t>
                      </a:r>
                      <a:endParaRPr lang="en-US" sz="14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D3748"/>
                          </a:solidFill>
                        </a:rPr>
                        <a:t>google.com</a:t>
                      </a:r>
                      <a:endParaRPr lang="en-US" sz="14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D3748"/>
                          </a:solidFill>
                        </a:rPr>
                        <a:t>Ipod</a:t>
                      </a:r>
                      <a:endParaRPr lang="en-US" sz="14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059669"/>
                          </a:solidFill>
                        </a:rPr>
                        <a:t>$290.00</a:t>
                      </a:r>
                      <a:endParaRPr lang="en-US" sz="14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D3748"/>
                          </a:solidFill>
                        </a:rPr>
                        <a:t>bing.com</a:t>
                      </a:r>
                      <a:endParaRPr lang="en-US" sz="14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D3748"/>
                          </a:solidFill>
                        </a:rPr>
                        <a:t>Zune</a:t>
                      </a:r>
                      <a:endParaRPr lang="en-US" sz="14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059669"/>
                          </a:solidFill>
                        </a:rPr>
                        <a:t>$250.00</a:t>
                      </a:r>
                      <a:endParaRPr lang="en-US" sz="14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D3748"/>
                          </a:solidFill>
                        </a:rPr>
                        <a:t>google.com</a:t>
                      </a:r>
                      <a:endParaRPr lang="en-US" sz="14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D3748"/>
                          </a:solidFill>
                        </a:rPr>
                        <a:t>ipod</a:t>
                      </a:r>
                      <a:endParaRPr lang="en-US" sz="14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059669"/>
                          </a:solidFill>
                        </a:rPr>
                        <a:t>$190.00</a:t>
                      </a:r>
                      <a:endParaRPr lang="en-US" sz="14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" name="Chart 0" descr=""/>
          <p:cNvGraphicFramePr/>
          <p:nvPr/>
        </p:nvGraphicFramePr>
        <p:xfrm>
          <a:off x="548640" y="2926080"/>
          <a:ext cx="5029200" cy="2011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1"/>
          <p:cNvSpPr/>
          <p:nvPr/>
        </p:nvSpPr>
        <p:spPr>
          <a:xfrm>
            <a:off x="6217920" y="2926080"/>
            <a:ext cx="2377440" cy="594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2"/>
          <p:cNvSpPr/>
          <p:nvPr/>
        </p:nvSpPr>
        <p:spPr>
          <a:xfrm>
            <a:off x="6217920" y="2926080"/>
            <a:ext cx="54864" cy="59436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7" name="Text 3"/>
          <p:cNvSpPr/>
          <p:nvPr/>
        </p:nvSpPr>
        <p:spPr>
          <a:xfrm>
            <a:off x="6400800" y="2926080"/>
            <a:ext cx="1097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5966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$730</a:t>
            </a:r>
            <a:endParaRPr lang="en-US" sz="2200" dirty="0"/>
          </a:p>
        </p:txBody>
      </p:sp>
      <p:sp>
        <p:nvSpPr>
          <p:cNvPr id="8" name="Text 4"/>
          <p:cNvSpPr/>
          <p:nvPr/>
        </p:nvSpPr>
        <p:spPr>
          <a:xfrm>
            <a:off x="7406640" y="2926080"/>
            <a:ext cx="1188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</a:t>
            </a:r>
            <a:endParaRPr lang="en-US" sz="1100" dirty="0"/>
          </a:p>
        </p:txBody>
      </p:sp>
      <p:sp>
        <p:nvSpPr>
          <p:cNvPr id="9" name="Shape 5"/>
          <p:cNvSpPr/>
          <p:nvPr/>
        </p:nvSpPr>
        <p:spPr>
          <a:xfrm>
            <a:off x="6217920" y="3611880"/>
            <a:ext cx="2377440" cy="594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Shape 6"/>
          <p:cNvSpPr/>
          <p:nvPr/>
        </p:nvSpPr>
        <p:spPr>
          <a:xfrm>
            <a:off x="6217920" y="3611880"/>
            <a:ext cx="54864" cy="59436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1" name="Text 7"/>
          <p:cNvSpPr/>
          <p:nvPr/>
        </p:nvSpPr>
        <p:spPr>
          <a:xfrm>
            <a:off x="6400800" y="3611880"/>
            <a:ext cx="1097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563E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200" dirty="0"/>
          </a:p>
        </p:txBody>
      </p:sp>
      <p:sp>
        <p:nvSpPr>
          <p:cNvPr id="12" name="Text 8"/>
          <p:cNvSpPr/>
          <p:nvPr/>
        </p:nvSpPr>
        <p:spPr>
          <a:xfrm>
            <a:off x="7406640" y="3611880"/>
            <a:ext cx="1188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Purchase events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6217920" y="4297680"/>
            <a:ext cx="2377440" cy="594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6217920" y="4297680"/>
            <a:ext cx="54864" cy="59436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5" name="Text 11"/>
          <p:cNvSpPr/>
          <p:nvPr/>
        </p:nvSpPr>
        <p:spPr>
          <a:xfrm>
            <a:off x="6400800" y="4297680"/>
            <a:ext cx="1097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7C3AE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200" dirty="0"/>
          </a:p>
        </p:txBody>
      </p:sp>
      <p:sp>
        <p:nvSpPr>
          <p:cNvPr id="16" name="Text 12"/>
          <p:cNvSpPr/>
          <p:nvPr/>
        </p:nvSpPr>
        <p:spPr>
          <a:xfrm>
            <a:off x="7406640" y="4297680"/>
            <a:ext cx="1188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engines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Security and PII handling</a:t>
            </a:r>
            <a:endParaRPr lang="en-US" sz="32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097280"/>
          <a:ext cx="804672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1645920"/>
                <a:gridCol w="2560320"/>
                <a:gridCol w="201168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Data field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29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PII level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29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Handling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29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Access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2936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D3748"/>
                          </a:solidFill>
                        </a:rPr>
                        <a:t>IP address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D3748"/>
                          </a:solidFill>
                        </a:rPr>
                        <a:t>Direct PII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D3748"/>
                          </a:solidFill>
                        </a:rPr>
                        <a:t>SHA-256 hash at Silver layer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D3748"/>
                          </a:solidFill>
                        </a:rPr>
                        <a:t>Engineers only (Bronze)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5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D3748"/>
                          </a:solidFill>
                        </a:rPr>
                        <a:t>User agent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D3748"/>
                          </a:solidFill>
                        </a:rPr>
                        <a:t>Indirect PII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D3748"/>
                          </a:solidFill>
                        </a:rPr>
                        <a:t>Kept in Silver, excluded from Gold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D3748"/>
                          </a:solidFill>
                        </a:rPr>
                        <a:t>Analysts restricted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D3748"/>
                          </a:solidFill>
                        </a:rPr>
                        <a:t>Geo city/region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D3748"/>
                          </a:solidFill>
                        </a:rPr>
                        <a:t>Quasi-identifier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D3748"/>
                          </a:solidFill>
                        </a:rPr>
                        <a:t>Available for analytics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D3748"/>
                          </a:solidFill>
                        </a:rPr>
                        <a:t>Marketing team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5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D3748"/>
                          </a:solidFill>
                        </a:rPr>
                        <a:t>Search keywords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D3748"/>
                          </a:solidFill>
                        </a:rPr>
                        <a:t>Potentially sensitive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D3748"/>
                          </a:solidFill>
                        </a:rPr>
                        <a:t>Aggregated in Gold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D3748"/>
                          </a:solidFill>
                        </a:rPr>
                        <a:t>All consumers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548640" y="3291840"/>
            <a:ext cx="192024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2"/>
          <p:cNvSpPr/>
          <p:nvPr/>
        </p:nvSpPr>
        <p:spPr>
          <a:xfrm>
            <a:off x="548640" y="3291840"/>
            <a:ext cx="1920240" cy="54864"/>
          </a:xfrm>
          <a:prstGeom prst="rect">
            <a:avLst/>
          </a:prstGeom>
          <a:solidFill>
            <a:srgbClr val="CC2936"/>
          </a:solidFill>
          <a:ln/>
        </p:spPr>
      </p:sp>
      <p:sp>
        <p:nvSpPr>
          <p:cNvPr id="6" name="Text 3"/>
          <p:cNvSpPr/>
          <p:nvPr/>
        </p:nvSpPr>
        <p:spPr>
          <a:xfrm>
            <a:off x="685800" y="347472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Encryption at rest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685800" y="388620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 SSE-KMS with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customer-managed keys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2697480" y="3291840"/>
            <a:ext cx="192024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2697480" y="3291840"/>
            <a:ext cx="1920240" cy="54864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10" name="Text 7"/>
          <p:cNvSpPr/>
          <p:nvPr/>
        </p:nvSpPr>
        <p:spPr>
          <a:xfrm>
            <a:off x="2834640" y="347472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Encryption in transit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2834640" y="388620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TLS for all S3, Athena,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Lambda connections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4846320" y="3291840"/>
            <a:ext cx="192024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846320" y="3291840"/>
            <a:ext cx="192024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4" name="Text 11"/>
          <p:cNvSpPr/>
          <p:nvPr/>
        </p:nvSpPr>
        <p:spPr>
          <a:xfrm>
            <a:off x="4983480" y="347472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Access control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4983480" y="388620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IAM roles + Lake Formation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column-level security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6995160" y="3291840"/>
            <a:ext cx="192024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6995160" y="3291840"/>
            <a:ext cx="1920240" cy="5486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8" name="Text 15"/>
          <p:cNvSpPr/>
          <p:nvPr/>
        </p:nvSpPr>
        <p:spPr>
          <a:xfrm>
            <a:off x="7132320" y="347472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Audit trail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7132320" y="388620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CloudTrail logging on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data access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Scalability: from KB to TB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097280"/>
            <a:ext cx="1371600" cy="50292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97280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1 GB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103120" y="1097280"/>
            <a:ext cx="6492240" cy="502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286000" y="109728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Lambda (current)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0" y="109728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040880" y="109728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tier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1847088"/>
            <a:ext cx="1371600" cy="5029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1847088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1 - 10 GB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103120" y="1847088"/>
            <a:ext cx="6492240" cy="502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2286000" y="1847088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Lambda with chunked reads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486400" y="1847088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Minutes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040880" y="1847088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~$0.05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48640" y="2596896"/>
            <a:ext cx="1371600" cy="5029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2596896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10 - 100 GB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103120" y="2596896"/>
            <a:ext cx="6492240" cy="502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2286000" y="2596896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Glue (PySpark, 5 DPU)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486400" y="2596896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10-30 min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7040880" y="2596896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~$2-5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48640" y="3346704"/>
            <a:ext cx="1371600" cy="50292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2" name="Text 20"/>
          <p:cNvSpPr/>
          <p:nvPr/>
        </p:nvSpPr>
        <p:spPr>
          <a:xfrm>
            <a:off x="548640" y="3346704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GB - 1 TB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2103120" y="3346704"/>
            <a:ext cx="6492240" cy="502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2286000" y="3346704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EMR Spark cluster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486400" y="3346704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30-60 min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7040880" y="3346704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~$10-20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548640" y="4096512"/>
            <a:ext cx="1371600" cy="502920"/>
          </a:xfrm>
          <a:prstGeom prst="rect">
            <a:avLst/>
          </a:prstGeom>
          <a:solidFill>
            <a:srgbClr val="CC2936"/>
          </a:solidFill>
          <a:ln/>
        </p:spPr>
      </p:sp>
      <p:sp>
        <p:nvSpPr>
          <p:cNvPr id="28" name="Text 26"/>
          <p:cNvSpPr/>
          <p:nvPr/>
        </p:nvSpPr>
        <p:spPr>
          <a:xfrm>
            <a:off x="548640" y="4096512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1 TB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2103120" y="4096512"/>
            <a:ext cx="6492240" cy="502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2286000" y="4096512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EMR + Iceberg partitioning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5486400" y="4096512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1-2 hours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7040880" y="4096512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~$30-50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548640" y="4572000"/>
            <a:ext cx="8046720" cy="365760"/>
          </a:xfrm>
          <a:prstGeom prst="rect">
            <a:avLst/>
          </a:prstGeom>
          <a:solidFill>
            <a:srgbClr val="EFF6FF"/>
          </a:solidFill>
          <a:ln/>
        </p:spPr>
      </p:sp>
      <p:sp>
        <p:nvSpPr>
          <p:cNvPr id="34" name="Text 32"/>
          <p:cNvSpPr/>
          <p:nvPr/>
        </p:nvSpPr>
        <p:spPr>
          <a:xfrm>
            <a:off x="731520" y="457200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design reads line-by-line with csv.DictReader — memory usage is O(unique visitors), not O(file size)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Future proofing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005840"/>
            <a:ext cx="411480" cy="411480"/>
          </a:xfrm>
          <a:prstGeom prst="ellipse">
            <a:avLst/>
          </a:prstGeom>
          <a:solidFill>
            <a:srgbClr val="CC2936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058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188720" y="9601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Multi-touch attribution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3931920" y="96012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0A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Silver layer preserves full session data — build first-touch, linear, time-decay, or data-driven models without re-ingesting.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1783080"/>
            <a:ext cx="411480" cy="411480"/>
          </a:xfrm>
          <a:prstGeom prst="ellipse">
            <a:avLst/>
          </a:prstGeom>
          <a:solidFill>
            <a:srgbClr val="CC2936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78308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188720" y="173736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New search engines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931920" y="173736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0A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engine config is externalized (domain + query param mapping). Adding DuckDuckGo, TikTok Search = config change, not code.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2560320"/>
            <a:ext cx="411480" cy="411480"/>
          </a:xfrm>
          <a:prstGeom prst="ellipse">
            <a:avLst/>
          </a:prstGeom>
          <a:solidFill>
            <a:srgbClr val="CC2936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25603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188720" y="25146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Cross-device identity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931920" y="251460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0A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Adobe provides Experience Cloud ID, replace IP-based stitching with deterministic identity resolution.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3337560"/>
            <a:ext cx="411480" cy="411480"/>
          </a:xfrm>
          <a:prstGeom prst="ellipse">
            <a:avLst/>
          </a:prstGeom>
          <a:solidFill>
            <a:srgbClr val="CC2936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33375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188720" y="329184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ML-ready features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3931920" y="329184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0A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Silver layer is structured for feature engineering — session length, page affinity, conversion funnel stage, product embeddings.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48640" y="4114800"/>
            <a:ext cx="411480" cy="411480"/>
          </a:xfrm>
          <a:prstGeom prst="ellipse">
            <a:avLst/>
          </a:prstGeom>
          <a:solidFill>
            <a:srgbClr val="CC2936"/>
          </a:solidFill>
          <a:ln/>
        </p:spPr>
      </p:sp>
      <p:sp>
        <p:nvSpPr>
          <p:cNvPr id="20" name="Text 18"/>
          <p:cNvSpPr/>
          <p:nvPr/>
        </p:nvSpPr>
        <p:spPr>
          <a:xfrm>
            <a:off x="548640" y="41148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188720" y="40690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Real-time bidding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3931920" y="406908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0A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 path enables real-time keyword performance signals that can feed automated bid management systems.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CC293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371600"/>
            <a:ext cx="7315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731520" y="2926080"/>
            <a:ext cx="1828800" cy="36576"/>
          </a:xfrm>
          <a:prstGeom prst="rect">
            <a:avLst/>
          </a:prstGeom>
          <a:solidFill>
            <a:srgbClr val="CC2936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32004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90A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 for code walkthrough and Q&amp;A</a:t>
            </a:r>
            <a:endParaRPr lang="en-US" sz="1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EB1C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8595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GitHub Actions CI/CD Pipeline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309360"/>
            <a:ext cx="9144000" cy="548640"/>
          </a:xfrm>
          <a:prstGeom prst="rect">
            <a:avLst/>
          </a:prstGeom>
          <a:solidFill>
            <a:srgbClr val="3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6355080"/>
            <a:ext cx="8595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</a:rPr>
              <a:t>Adobe Data Engineer Assessment  |  Search Keyword Performance Analyzer  |  CI/CD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188720"/>
            <a:ext cx="1645920" cy="640080"/>
          </a:xfrm>
          <a:prstGeom prst="rect">
            <a:avLst/>
          </a:prstGeom>
          <a:solidFill>
            <a:srgbClr val="107C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FFFFFF"/>
                </a:solidFill>
              </a:rPr>
              <a:t>PUSH / PR
Manual Trigger</a:t>
            </a:r>
          </a:p>
        </p:txBody>
      </p:sp>
      <p:sp>
        <p:nvSpPr>
          <p:cNvPr id="7" name="Rectangle 6"/>
          <p:cNvSpPr/>
          <p:nvPr/>
        </p:nvSpPr>
        <p:spPr>
          <a:xfrm>
            <a:off x="2194560" y="1188720"/>
            <a:ext cx="1645920" cy="640080"/>
          </a:xfrm>
          <a:prstGeom prst="rect">
            <a:avLst/>
          </a:prstGeom>
          <a:solidFill>
            <a:srgbClr val="006E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FFFFFF"/>
                </a:solidFill>
              </a:rPr>
              <a:t>Unit Tests
(python unittest)</a:t>
            </a:r>
          </a:p>
        </p:txBody>
      </p:sp>
      <p:sp>
        <p:nvSpPr>
          <p:cNvPr id="8" name="Rectangle 7"/>
          <p:cNvSpPr/>
          <p:nvPr/>
        </p:nvSpPr>
        <p:spPr>
          <a:xfrm>
            <a:off x="4023360" y="1188720"/>
            <a:ext cx="1645920" cy="640080"/>
          </a:xfrm>
          <a:prstGeom prst="rect">
            <a:avLst/>
          </a:prstGeom>
          <a:solidFill>
            <a:srgbClr val="006E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FFFFFF"/>
                </a:solidFill>
              </a:rPr>
              <a:t>Package Lambda
(zip + artifact)</a:t>
            </a:r>
          </a:p>
        </p:txBody>
      </p:sp>
      <p:sp>
        <p:nvSpPr>
          <p:cNvPr id="9" name="Rectangle 8"/>
          <p:cNvSpPr/>
          <p:nvPr/>
        </p:nvSpPr>
        <p:spPr>
          <a:xfrm>
            <a:off x="5852160" y="1188720"/>
            <a:ext cx="1645920" cy="640080"/>
          </a:xfrm>
          <a:prstGeom prst="rect">
            <a:avLst/>
          </a:prstGeom>
          <a:solidFill>
            <a:srgbClr val="EB1C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FFFFFF"/>
                </a:solidFill>
              </a:rPr>
              <a:t>Terraform Apply
(push to main only)</a:t>
            </a:r>
          </a:p>
        </p:txBody>
      </p:sp>
      <p:sp>
        <p:nvSpPr>
          <p:cNvPr id="10" name="Rectangle 9"/>
          <p:cNvSpPr/>
          <p:nvPr/>
        </p:nvSpPr>
        <p:spPr>
          <a:xfrm>
            <a:off x="5852160" y="2194560"/>
            <a:ext cx="1645920" cy="640080"/>
          </a:xfrm>
          <a:prstGeom prst="rect">
            <a:avLst/>
          </a:prstGeom>
          <a:solidFill>
            <a:srgbClr val="3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FFFFFF"/>
                </a:solidFill>
              </a:rPr>
              <a:t>Terraform Plan
(PR comment only)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57400" y="1417320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C3C3C"/>
                </a:solidFill>
              </a:rPr>
              <a:t>▶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86200" y="1417320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C3C3C"/>
                </a:solidFill>
              </a:rPr>
              <a:t>▶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15000" y="14173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3C3C3C"/>
                </a:solidFill>
              </a:rPr>
              <a:t>▶  (push)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15000" y="23317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3C3C3C"/>
                </a:solidFill>
              </a:rPr>
              <a:t>▶  (PR)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3017520"/>
            <a:ext cx="1828800" cy="292608"/>
          </a:xfrm>
          <a:prstGeom prst="rect">
            <a:avLst/>
          </a:prstGeom>
          <a:solidFill>
            <a:srgbClr val="F4F4F4"/>
          </a:solidFill>
          <a:ln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1480" y="3054096"/>
            <a:ext cx="1737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3C3C3C"/>
                </a:solidFill>
              </a:rPr>
              <a:t>Triggers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286000" y="3054096"/>
            <a:ext cx="6400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3C3C3C"/>
                </a:solidFill>
              </a:rPr>
              <a:t>Push to main  |  Pull Request  |  workflow_dispatch (manual)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3364991"/>
            <a:ext cx="1828800" cy="292608"/>
          </a:xfrm>
          <a:prstGeom prst="rect">
            <a:avLst/>
          </a:prstGeom>
          <a:solidFill>
            <a:srgbClr val="F4F4F4"/>
          </a:solidFill>
          <a:ln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11480" y="3401568"/>
            <a:ext cx="1737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3C3C3C"/>
                </a:solidFill>
              </a:rPr>
              <a:t>Test Job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86000" y="3401568"/>
            <a:ext cx="6400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3C3C3C"/>
                </a:solidFill>
              </a:rPr>
              <a:t>Runs unittest — no AWS needed. Catches logic errors early.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3712463"/>
            <a:ext cx="1828800" cy="292608"/>
          </a:xfrm>
          <a:prstGeom prst="rect">
            <a:avLst/>
          </a:prstGeom>
          <a:solidFill>
            <a:srgbClr val="F4F4F4"/>
          </a:solidFill>
          <a:ln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11480" y="3749039"/>
            <a:ext cx="1737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3C3C3C"/>
                </a:solidFill>
              </a:rPr>
              <a:t>Package Job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286000" y="3749039"/>
            <a:ext cx="6400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3C3C3C"/>
                </a:solidFill>
              </a:rPr>
              <a:t>Zips src/ into lambda.zip. Uploaded as GitHub artifact (30-day retention).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" y="4059935"/>
            <a:ext cx="1828800" cy="292608"/>
          </a:xfrm>
          <a:prstGeom prst="rect">
            <a:avLst/>
          </a:prstGeom>
          <a:solidFill>
            <a:srgbClr val="F4F4F4"/>
          </a:solidFill>
          <a:ln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11480" y="4096511"/>
            <a:ext cx="1737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3C3C3C"/>
                </a:solidFill>
              </a:rPr>
              <a:t>Deploy Job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286000" y="4096511"/>
            <a:ext cx="6400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3C3C3C"/>
                </a:solidFill>
              </a:rPr>
              <a:t>terraform apply — only runs on push to main. Deploys Lambda, S3, Glue, Athena.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65760" y="4407407"/>
            <a:ext cx="1828800" cy="292608"/>
          </a:xfrm>
          <a:prstGeom prst="rect">
            <a:avLst/>
          </a:prstGeom>
          <a:solidFill>
            <a:srgbClr val="F4F4F4"/>
          </a:solidFill>
          <a:ln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11480" y="4443983"/>
            <a:ext cx="1737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3C3C3C"/>
                </a:solidFill>
              </a:rPr>
              <a:t>Plan Job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286000" y="4443983"/>
            <a:ext cx="6400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3C3C3C"/>
                </a:solidFill>
              </a:rPr>
              <a:t>terraform plan on every PR. Output posted as PR comment for review before merge.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65760" y="4754879"/>
            <a:ext cx="1828800" cy="292608"/>
          </a:xfrm>
          <a:prstGeom prst="rect">
            <a:avLst/>
          </a:prstGeom>
          <a:solidFill>
            <a:srgbClr val="F4F4F4"/>
          </a:solidFill>
          <a:ln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11480" y="4791455"/>
            <a:ext cx="1737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3C3C3C"/>
                </a:solidFill>
              </a:rPr>
              <a:t>Branch Protection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286000" y="4791455"/>
            <a:ext cx="6400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3C3C3C"/>
                </a:solidFill>
              </a:rPr>
              <a:t>Unit Tests + Package Lambda must pass. 1 PR approval required. No direct push to main.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5102351"/>
            <a:ext cx="1828800" cy="292608"/>
          </a:xfrm>
          <a:prstGeom prst="rect">
            <a:avLst/>
          </a:prstGeom>
          <a:solidFill>
            <a:srgbClr val="F4F4F4"/>
          </a:solidFill>
          <a:ln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11480" y="5138927"/>
            <a:ext cx="1737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3C3C3C"/>
                </a:solidFill>
              </a:rPr>
              <a:t>Secrets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286000" y="5138927"/>
            <a:ext cx="6400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3C3C3C"/>
                </a:solidFill>
              </a:rPr>
              <a:t>AWS_ACCESS_KEY_ID and AWS_SECRET_ACCESS_KEY stored in GitHub Secrets — never in code.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EB1C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8595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AWS Architecture — Medallion Lakehouse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309360"/>
            <a:ext cx="9144000" cy="548640"/>
          </a:xfrm>
          <a:prstGeom prst="rect">
            <a:avLst/>
          </a:prstGeom>
          <a:solidFill>
            <a:srgbClr val="3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6355080"/>
            <a:ext cx="8595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</a:rPr>
              <a:t>Adobe Data Engineer Assessment  |  Search Keyword Performance Analyzer  |  Architecture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188720"/>
            <a:ext cx="1554480" cy="4389120"/>
          </a:xfrm>
          <a:prstGeom prst="rect">
            <a:avLst/>
          </a:prstGeom>
          <a:solidFill>
            <a:srgbClr val="E8F4E8"/>
          </a:solidFill>
          <a:ln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123444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3C3C3C"/>
                </a:solidFill>
              </a:rPr>
              <a:t>TRIGGER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1600200"/>
            <a:ext cx="1554480" cy="388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3C3C3C"/>
                </a:solidFill>
              </a:rPr>
              <a:t>S3
landing/
data.sql</a:t>
            </a:r>
          </a:p>
        </p:txBody>
      </p:sp>
      <p:sp>
        <p:nvSpPr>
          <p:cNvPr id="9" name="Rectangle 8"/>
          <p:cNvSpPr/>
          <p:nvPr/>
        </p:nvSpPr>
        <p:spPr>
          <a:xfrm>
            <a:off x="2011680" y="1188720"/>
            <a:ext cx="1554480" cy="4389120"/>
          </a:xfrm>
          <a:prstGeom prst="rect">
            <a:avLst/>
          </a:prstGeom>
          <a:solidFill>
            <a:srgbClr val="E8F0F8"/>
          </a:solidFill>
          <a:ln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011680" y="123444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3C3C3C"/>
                </a:solidFill>
              </a:rPr>
              <a:t>COMPUTE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11680" y="1600200"/>
            <a:ext cx="1554480" cy="388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3C3C3C"/>
                </a:solidFill>
              </a:rPr>
              <a:t>AWS Lambda
Python 3.12
512 MB / 5 min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749039" y="1188720"/>
            <a:ext cx="1554480" cy="4389120"/>
          </a:xfrm>
          <a:prstGeom prst="rect">
            <a:avLst/>
          </a:prstGeom>
          <a:solidFill>
            <a:srgbClr val="F8F0E8"/>
          </a:solidFill>
          <a:ln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49039" y="123444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3C3C3C"/>
                </a:solidFill>
              </a:rPr>
              <a:t>BRONZE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49039" y="1600200"/>
            <a:ext cx="1554480" cy="388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3C3C3C"/>
                </a:solidFill>
              </a:rPr>
              <a:t>S3
bronze/
Raw Archive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0" y="1188720"/>
            <a:ext cx="1554480" cy="4389120"/>
          </a:xfrm>
          <a:prstGeom prst="rect">
            <a:avLst/>
          </a:prstGeom>
          <a:solidFill>
            <a:srgbClr val="F8F8E8"/>
          </a:solidFill>
          <a:ln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0" y="123444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3C3C3C"/>
                </a:solidFill>
              </a:rPr>
              <a:t>GOLD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0" y="1600200"/>
            <a:ext cx="1554480" cy="388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3C3C3C"/>
                </a:solidFill>
              </a:rPr>
              <a:t>S3
gold/
Output .tab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223760" y="1188720"/>
            <a:ext cx="1554480" cy="4389120"/>
          </a:xfrm>
          <a:prstGeom prst="rect">
            <a:avLst/>
          </a:prstGeom>
          <a:solidFill>
            <a:srgbClr val="F0E8F8"/>
          </a:solidFill>
          <a:ln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223760" y="123444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3C3C3C"/>
                </a:solidFill>
              </a:rPr>
              <a:t>QUERY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23760" y="1600200"/>
            <a:ext cx="1554480" cy="388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3C3C3C"/>
                </a:solidFill>
              </a:rPr>
              <a:t>Athena
+
Glue Catalog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01368" y="3017520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3C3C3C"/>
                </a:solidFill>
              </a:rPr>
              <a:t>▶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38728" y="3017520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3C3C3C"/>
                </a:solidFill>
              </a:rPr>
              <a:t>▶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76088" y="3017520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3C3C3C"/>
                </a:solidFill>
              </a:rPr>
              <a:t>▶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13448" y="3017520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3C3C3C"/>
                </a:solidFill>
              </a:rPr>
              <a:t>▶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74320" y="5577840"/>
            <a:ext cx="8686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3C3C3C"/>
                </a:solidFill>
              </a:rPr>
              <a:t>Supporting Services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4320" y="5897880"/>
            <a:ext cx="1600200" cy="320040"/>
          </a:xfrm>
          <a:prstGeom prst="rect">
            <a:avLst/>
          </a:prstGeom>
          <a:solidFill>
            <a:srgbClr val="3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20040" y="5925312"/>
            <a:ext cx="1508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</a:rPr>
              <a:t>KMS Encryption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011679" y="5897880"/>
            <a:ext cx="1600200" cy="320040"/>
          </a:xfrm>
          <a:prstGeom prst="rect">
            <a:avLst/>
          </a:prstGeom>
          <a:solidFill>
            <a:srgbClr val="3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057399" y="5925312"/>
            <a:ext cx="1508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</a:rPr>
              <a:t>CloudWatch Logs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749039" y="5897880"/>
            <a:ext cx="1600200" cy="320040"/>
          </a:xfrm>
          <a:prstGeom prst="rect">
            <a:avLst/>
          </a:prstGeom>
          <a:solidFill>
            <a:srgbClr val="3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794759" y="5925312"/>
            <a:ext cx="1508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</a:rPr>
              <a:t>IAM Least Privilege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486400" y="5897880"/>
            <a:ext cx="1600200" cy="320040"/>
          </a:xfrm>
          <a:prstGeom prst="rect">
            <a:avLst/>
          </a:prstGeom>
          <a:solidFill>
            <a:srgbClr val="3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532120" y="5925312"/>
            <a:ext cx="1508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</a:rPr>
              <a:t>S3 Lifecycle Rules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223760" y="5897880"/>
            <a:ext cx="1600200" cy="320040"/>
          </a:xfrm>
          <a:prstGeom prst="rect">
            <a:avLst/>
          </a:prstGeom>
          <a:solidFill>
            <a:srgbClr val="3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269480" y="5925312"/>
            <a:ext cx="1508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</a:rPr>
              <a:t>VPC-ready IAM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EB1C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8595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Security &amp; Encryption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309360"/>
            <a:ext cx="9144000" cy="548640"/>
          </a:xfrm>
          <a:prstGeom prst="rect">
            <a:avLst/>
          </a:prstGeom>
          <a:solidFill>
            <a:srgbClr val="3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6355080"/>
            <a:ext cx="8595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</a:rPr>
              <a:t>Adobe Data Engineer Assessment  |  Search Keyword Performance Analyzer  |  Security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143000"/>
            <a:ext cx="8595360" cy="475488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179576"/>
            <a:ext cx="22860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EB1C24"/>
                </a:solidFill>
              </a:rPr>
              <a:t>✓  S3 Encryption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0" y="1216152"/>
            <a:ext cx="6035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3C3C3C"/>
                </a:solidFill>
              </a:rPr>
              <a:t>SSE-KMS with customer-managed key. Bucket key enabled — reduces KMS API calls by ~99%.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655064"/>
            <a:ext cx="859536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1691640"/>
            <a:ext cx="22860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EB1C24"/>
                </a:solidFill>
              </a:rPr>
              <a:t>✓  Glue Data Catalog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0" y="1728216"/>
            <a:ext cx="6035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3C3C3C"/>
                </a:solidFill>
              </a:rPr>
              <a:t>Catalog metadata encrypted with same KMS key. Connection passwords encrypted at rest.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2167128"/>
            <a:ext cx="8595360" cy="475488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" y="2203704"/>
            <a:ext cx="22860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EB1C24"/>
                </a:solidFill>
              </a:rPr>
              <a:t>✓  Athena Query Results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0" y="2240280"/>
            <a:ext cx="6035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3C3C3C"/>
                </a:solidFill>
              </a:rPr>
              <a:t>Output stored in S3 with SSE-KMS encryption. 100 MB per-query scan limit to control costs.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2679192"/>
            <a:ext cx="859536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5760" y="2715768"/>
            <a:ext cx="22860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EB1C24"/>
                </a:solidFill>
              </a:rPr>
              <a:t>✓  KMS Key Rotation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0" y="2752344"/>
            <a:ext cx="6035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3C3C3C"/>
                </a:solidFill>
              </a:rPr>
              <a:t>Automatic annual rotation enabled. 7-day deletion window prevents accidental data loss.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3191256"/>
            <a:ext cx="8595360" cy="475488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5760" y="3227832"/>
            <a:ext cx="22860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EB1C24"/>
                </a:solidFill>
              </a:rPr>
              <a:t>✓  S3 Public Access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43200" y="3264408"/>
            <a:ext cx="6035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3C3C3C"/>
                </a:solidFill>
              </a:rPr>
              <a:t>All public access fully blocked: ACLs, policies, public buckets — 4/4 flags enabled.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" y="3703320"/>
            <a:ext cx="859536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5760" y="3739896"/>
            <a:ext cx="22860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EB1C24"/>
                </a:solidFill>
              </a:rPr>
              <a:t>✓  IAM Least Privilege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43200" y="3776472"/>
            <a:ext cx="6035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3C3C3C"/>
                </a:solidFill>
              </a:rPr>
              <a:t>Lambda role has only: s3:Get/Put/Copy on bucket, kms:Decrypt/GenerateDataKey, logs:*.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74320" y="4215384"/>
            <a:ext cx="8595360" cy="475488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65760" y="4251960"/>
            <a:ext cx="22860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EB1C24"/>
                </a:solidFill>
              </a:rPr>
              <a:t>✓  GitHub Secrets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43200" y="4288536"/>
            <a:ext cx="6035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3C3C3C"/>
                </a:solidFill>
              </a:rPr>
              <a:t>AWS credentials stored as encrypted GitHub Secrets. Never hardcoded in source or config.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74320" y="4727448"/>
            <a:ext cx="859536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5760" y="4764024"/>
            <a:ext cx="22860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EB1C24"/>
                </a:solidFill>
              </a:rPr>
              <a:t>✓  Branch Protection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743200" y="4800600"/>
            <a:ext cx="6035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3C3C3C"/>
                </a:solidFill>
              </a:rPr>
              <a:t>Direct push to main blocked. PRs require 1 approval + passing CI before merge.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74320" y="5239512"/>
            <a:ext cx="8595360" cy="475488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65760" y="5276088"/>
            <a:ext cx="22860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EB1C24"/>
                </a:solidFill>
              </a:rPr>
              <a:t>✓  No External Dependencies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743200" y="5312664"/>
            <a:ext cx="6035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3C3C3C"/>
                </a:solidFill>
              </a:rPr>
              <a:t>Python standard library only. Zero third-party packages = zero supply chain risk.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EB1C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8595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Branch Protection &amp; Git Workflow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309360"/>
            <a:ext cx="9144000" cy="548640"/>
          </a:xfrm>
          <a:prstGeom prst="rect">
            <a:avLst/>
          </a:prstGeom>
          <a:solidFill>
            <a:srgbClr val="3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6355080"/>
            <a:ext cx="8595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</a:rPr>
              <a:t>Adobe Data Engineer Assessment  |  Search Keyword Performance Analyzer  |  Git Workflow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114300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3C3C3C"/>
                </a:solidFill>
              </a:rPr>
              <a:t>Developer Workflow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554480"/>
            <a:ext cx="4023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3C3C3C"/>
                </a:solidFill>
              </a:rPr>
              <a:t>1.  git checkout main &amp;&amp; git pull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901952"/>
            <a:ext cx="4023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3C3C3C"/>
                </a:solidFill>
              </a:rPr>
              <a:t>2.  git checkout -b feature/SKA-123-description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2249424"/>
            <a:ext cx="4023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3C3C3C"/>
                </a:solidFill>
              </a:rPr>
              <a:t>3.  Make changes &amp; commit (Conventional Commits)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2596896"/>
            <a:ext cx="4023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3C3C3C"/>
                </a:solidFill>
              </a:rPr>
              <a:t>4.  git push -u origin feature/SKA-123-description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2944368"/>
            <a:ext cx="4023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3C3C3C"/>
                </a:solidFill>
              </a:rPr>
              <a:t>5.  gh pr create  (opens Pull Request)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3291839"/>
            <a:ext cx="4023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3C3C3C"/>
                </a:solidFill>
              </a:rPr>
              <a:t>6.  CI runs: Unit Tests + Package Lambda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3639311"/>
            <a:ext cx="4023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3C3C3C"/>
                </a:solidFill>
              </a:rPr>
              <a:t>7.  Reviewer approves PR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3986783"/>
            <a:ext cx="4023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3C3C3C"/>
                </a:solidFill>
              </a:rPr>
              <a:t>8.  Merge via GitHub UI (Squash and merge)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4334255"/>
            <a:ext cx="4023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3C3C3C"/>
                </a:solidFill>
              </a:rPr>
              <a:t>9.  Delete feature branch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63440" y="114300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3C3C3C"/>
                </a:solidFill>
              </a:rPr>
              <a:t>Branch Naming Standards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663440" y="1554480"/>
            <a:ext cx="1005840" cy="292608"/>
          </a:xfrm>
          <a:prstGeom prst="rect">
            <a:avLst/>
          </a:prstGeom>
          <a:solidFill>
            <a:srgbClr val="EB1C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81728" y="1591056"/>
            <a:ext cx="96926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feature/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760720" y="1591056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3C3C3C"/>
                </a:solidFill>
              </a:rPr>
              <a:t>feature/SKA-42-yahoo-parser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663440" y="1938528"/>
            <a:ext cx="1005840" cy="292608"/>
          </a:xfrm>
          <a:prstGeom prst="rect">
            <a:avLst/>
          </a:prstGeom>
          <a:solidFill>
            <a:srgbClr val="EB1C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681728" y="1975104"/>
            <a:ext cx="96926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fix/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760720" y="1975104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3C3C3C"/>
                </a:solidFill>
              </a:rPr>
              <a:t>fix/SKA-55-revenue-rounding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663440" y="2322576"/>
            <a:ext cx="1005840" cy="292608"/>
          </a:xfrm>
          <a:prstGeom prst="rect">
            <a:avLst/>
          </a:prstGeom>
          <a:solidFill>
            <a:srgbClr val="EB1C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681728" y="2359152"/>
            <a:ext cx="96926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hotfix/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760720" y="2359152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3C3C3C"/>
                </a:solidFill>
              </a:rPr>
              <a:t>hotfix/SKA-99-lambda-oom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663440" y="2706624"/>
            <a:ext cx="1005840" cy="292608"/>
          </a:xfrm>
          <a:prstGeom prst="rect">
            <a:avLst/>
          </a:prstGeom>
          <a:solidFill>
            <a:srgbClr val="EB1C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681728" y="2743200"/>
            <a:ext cx="96926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release/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760720" y="2743200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3C3C3C"/>
                </a:solidFill>
              </a:rPr>
              <a:t>release/1.2.0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663440" y="3090672"/>
            <a:ext cx="1005840" cy="292608"/>
          </a:xfrm>
          <a:prstGeom prst="rect">
            <a:avLst/>
          </a:prstGeom>
          <a:solidFill>
            <a:srgbClr val="EB1C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681728" y="3127248"/>
            <a:ext cx="96926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chore/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760720" y="3127248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3C3C3C"/>
                </a:solidFill>
              </a:rPr>
              <a:t>chore/update-dependencies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663440" y="365760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3C3C3C"/>
                </a:solidFill>
              </a:rPr>
              <a:t>Commit Format (Conventional Commits)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663440" y="4023360"/>
            <a:ext cx="4114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3C3C3C"/>
                </a:solidFill>
              </a:rPr>
              <a:t>feat(scope): description
fix(scope): description
docs / test / refactor / ci / chore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74320" y="4937760"/>
            <a:ext cx="8595360" cy="1097280"/>
          </a:xfrm>
          <a:prstGeom prst="rect">
            <a:avLst/>
          </a:prstGeom>
          <a:solidFill>
            <a:srgbClr val="F4F4F4"/>
          </a:solidFill>
          <a:ln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57200" y="498348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EB1C24"/>
                </a:solidFill>
              </a:rPr>
              <a:t>Branch Protection Rules — main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" y="534924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3C3C3C"/>
                </a:solidFill>
              </a:rPr>
              <a:t>✓  Direct push to main blocked     ✓  1 PR approval required
✓  Unit Tests must pass             ✓  Package Lambda must pass
✓  Force push disabled              ✓  Branch deletion disabled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EB1C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8595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Scalability — Handling 10 GB+ Files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309360"/>
            <a:ext cx="9144000" cy="548640"/>
          </a:xfrm>
          <a:prstGeom prst="rect">
            <a:avLst/>
          </a:prstGeom>
          <a:solidFill>
            <a:srgbClr val="3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6355080"/>
            <a:ext cx="8595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</a:rPr>
              <a:t>Adobe Data Engineer Assessment  |  Search Keyword Performance Analyzer  |  Scalability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1097280"/>
            <a:ext cx="8595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C3C3C"/>
                </a:solidFill>
              </a:rPr>
              <a:t>Current design streams the file row by row (csv.DictReader) — memory usage is O(unique visitors), not O(file size). This handles moderate files efficiently but has limits at 10 GB+ scale.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828800"/>
            <a:ext cx="1645920" cy="320040"/>
          </a:xfrm>
          <a:prstGeom prst="rect">
            <a:avLst/>
          </a:prstGeom>
          <a:solidFill>
            <a:srgbClr val="3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1856231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Approach</a:t>
            </a:r>
          </a:p>
        </p:txBody>
      </p:sp>
      <p:sp>
        <p:nvSpPr>
          <p:cNvPr id="9" name="Rectangle 8"/>
          <p:cNvSpPr/>
          <p:nvPr/>
        </p:nvSpPr>
        <p:spPr>
          <a:xfrm>
            <a:off x="1920240" y="1828800"/>
            <a:ext cx="1097280" cy="320040"/>
          </a:xfrm>
          <a:prstGeom prst="rect">
            <a:avLst/>
          </a:prstGeom>
          <a:solidFill>
            <a:srgbClr val="3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965960" y="1856231"/>
            <a:ext cx="10058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File Size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017520" y="1828800"/>
            <a:ext cx="3840480" cy="320040"/>
          </a:xfrm>
          <a:prstGeom prst="rect">
            <a:avLst/>
          </a:prstGeom>
          <a:solidFill>
            <a:srgbClr val="3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063239" y="1856231"/>
            <a:ext cx="3749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How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858000" y="1828800"/>
            <a:ext cx="1645920" cy="320040"/>
          </a:xfrm>
          <a:prstGeom prst="rect">
            <a:avLst/>
          </a:prstGeom>
          <a:solidFill>
            <a:srgbClr val="3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903720" y="1856231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AWS Service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2240280"/>
            <a:ext cx="8595360" cy="41148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20040" y="2295144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3C3C3C"/>
                </a:solidFill>
              </a:rPr>
              <a:t>Chunked multiprocessing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65960" y="2295144"/>
            <a:ext cx="10058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3C3C3C"/>
                </a:solidFill>
              </a:rPr>
              <a:t>10–50 GB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63239" y="2295144"/>
            <a:ext cx="3749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3C3C3C"/>
                </a:solidFill>
              </a:rPr>
              <a:t>Split file into N chunks, process in parallel, merge results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03720" y="2295144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3C3C3C"/>
                </a:solidFill>
              </a:rPr>
              <a:t>EC2 / Lambda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2679192"/>
            <a:ext cx="859536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20040" y="2734056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3C3C3C"/>
                </a:solidFill>
              </a:rPr>
              <a:t>AWS Glue (PySpark)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965960" y="2734056"/>
            <a:ext cx="10058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3C3C3C"/>
                </a:solidFill>
              </a:rPr>
              <a:t>50+ GB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063239" y="2734056"/>
            <a:ext cx="3749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3C3C3C"/>
                </a:solidFill>
              </a:rPr>
              <a:t>Serverless managed Spark. Reads from S3, partitioned automatically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03720" y="2734056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3C3C3C"/>
                </a:solidFill>
              </a:rPr>
              <a:t>Glue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118104"/>
            <a:ext cx="8595360" cy="41148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20040" y="3172968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3C3C3C"/>
                </a:solidFill>
              </a:rPr>
              <a:t>Amazon EMR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65960" y="3172968"/>
            <a:ext cx="10058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3C3C3C"/>
                </a:solidFill>
              </a:rPr>
              <a:t>100+ GB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063239" y="3172968"/>
            <a:ext cx="3749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3C3C3C"/>
                </a:solidFill>
              </a:rPr>
              <a:t>Full Spark cluster. Maximum control, optimal for recurring large jobs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03720" y="3172968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3C3C3C"/>
                </a:solidFill>
              </a:rPr>
              <a:t>EMR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74320" y="3557016"/>
            <a:ext cx="859536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20040" y="3611880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3C3C3C"/>
                </a:solidFill>
              </a:rPr>
              <a:t>Kinesis Streams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965960" y="3611880"/>
            <a:ext cx="10058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3C3C3C"/>
                </a:solidFill>
              </a:rPr>
              <a:t>Real-time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063239" y="3611880"/>
            <a:ext cx="3749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3C3C3C"/>
                </a:solidFill>
              </a:rPr>
              <a:t>Process each hit as it arrives. No batch window — sub-second latency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903720" y="3611880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3C3C3C"/>
                </a:solidFill>
              </a:rPr>
              <a:t>Kinesis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74320" y="429768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EB1C24"/>
                </a:solidFill>
              </a:rPr>
              <a:t>Current Bottlenecks at Scale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" y="4663440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3C3C3C"/>
                </a:solidFill>
              </a:rPr>
              <a:t>•  Single-threaded processing — one core for entire file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4983479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3C3C3C"/>
                </a:solidFill>
              </a:rPr>
              <a:t>•  In-memory visitor map — grows with unique IPs (millions at scale)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65760" y="5303519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3C3C3C"/>
                </a:solidFill>
              </a:rPr>
              <a:t>•  Lambda limits — 15-min timeout, 10 GB /tmp storage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65760" y="5623559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3C3C3C"/>
                </a:solidFill>
              </a:rPr>
              <a:t>•  Single-file input — no native partitioning or parallelism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Search Keyword Performance Analytics</dc:title>
  <dc:subject>PptxGenJS Presentation</dc:subject>
  <dc:creator>Sarath</dc:creator>
  <cp:lastModifiedBy>Sarath</cp:lastModifiedBy>
  <cp:revision>1</cp:revision>
  <dcterms:created xsi:type="dcterms:W3CDTF">2026-04-08T04:10:53Z</dcterms:created>
  <dcterms:modified xsi:type="dcterms:W3CDTF">2026-04-08T04:10:53Z</dcterms:modified>
</cp:coreProperties>
</file>